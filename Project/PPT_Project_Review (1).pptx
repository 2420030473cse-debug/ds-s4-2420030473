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62" r:id="rId3"/>
    <p:sldId id="707" r:id="rId4"/>
    <p:sldId id="904" r:id="rId5"/>
    <p:sldId id="905" r:id="rId6"/>
    <p:sldId id="906" r:id="rId7"/>
    <p:sldId id="902" r:id="rId8"/>
    <p:sldId id="907" r:id="rId9"/>
    <p:sldId id="908" r:id="rId10"/>
    <p:sldId id="909" r:id="rId11"/>
    <p:sldId id="260" r:id="rId12"/>
    <p:sldId id="91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623C5-11AE-6426-5391-9C3865DF8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BC9056-192F-D018-4DA7-A169A39C04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D26EF1-6CA1-EF35-F77A-61847902E0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44F0D-82CA-423A-8E3C-DD06395B87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580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 Sep 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956626"/>
              </p:ext>
            </p:extLst>
          </p:nvPr>
        </p:nvGraphicFramePr>
        <p:xfrm>
          <a:off x="8193271" y="4898509"/>
          <a:ext cx="3702050" cy="1310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2420030473 M. Akhila Devi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2420030476 Sk. Harshitha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2420030186 I. Keerthana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2420030575 B. Anupama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314773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Ms. P. Prathusha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Performance Analytics Dashboard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1852682"/>
            <a:ext cx="1071562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(24AD3107) </a:t>
            </a:r>
          </a:p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 Sep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Review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08369-AE62-F665-9BB2-FE73FABF9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58E5636-B198-7898-59BA-0E8D94900D9E}"/>
              </a:ext>
            </a:extLst>
          </p:cNvPr>
          <p:cNvSpPr txBox="1"/>
          <p:nvPr/>
        </p:nvSpPr>
        <p:spPr>
          <a:xfrm>
            <a:off x="3991897" y="482232"/>
            <a:ext cx="2787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E8BAFF-C819-63CE-BA04-0EE135424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A08AEE3-816F-3DCB-9717-42681A5CA5F0}"/>
              </a:ext>
            </a:extLst>
          </p:cNvPr>
          <p:cNvSpPr txBox="1"/>
          <p:nvPr/>
        </p:nvSpPr>
        <p:spPr>
          <a:xfrm>
            <a:off x="513347" y="1604211"/>
            <a:ext cx="11112596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academic performance is influenced by academic, behavioral and learning-related factors.</a:t>
            </a:r>
          </a:p>
          <a:p>
            <a:pPr>
              <a:spcAft>
                <a:spcPts val="800"/>
              </a:spcAft>
              <a:defRPr sz="1800" b="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 collect large amounts of student-related data.</a:t>
            </a:r>
          </a:p>
          <a:p>
            <a:pPr>
              <a:spcAft>
                <a:spcPts val="800"/>
              </a:spcAft>
              <a:defRPr sz="1800" b="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and Machine Learning can identify patterns in this data.</a:t>
            </a:r>
          </a:p>
          <a:p>
            <a:pPr>
              <a:spcAft>
                <a:spcPts val="800"/>
              </a:spcAft>
              <a:defRPr sz="1800" b="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proposes a simple system to analyze student data and predict academic performance.</a:t>
            </a:r>
          </a:p>
          <a:p>
            <a:pPr>
              <a:spcAft>
                <a:spcPts val="800"/>
              </a:spcAft>
              <a:defRPr sz="1800" b="0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800" b="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flow: Student Data → Data Analysis → Machine Learning → Prediction → Academic Insights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310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6070F-DB83-F4F4-E672-6E2BC879C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FAE846-6D5E-5A2E-4058-765B1D12DBC2}"/>
              </a:ext>
            </a:extLst>
          </p:cNvPr>
          <p:cNvSpPr txBox="1"/>
          <p:nvPr/>
        </p:nvSpPr>
        <p:spPr>
          <a:xfrm>
            <a:off x="3991897" y="482232"/>
            <a:ext cx="39895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A1D8B7-5501-5DE4-87C2-80CDD091C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2FB96C-2D56-1F00-8A72-0440D880AA02}"/>
              </a:ext>
            </a:extLst>
          </p:cNvPr>
          <p:cNvSpPr txBox="1"/>
          <p:nvPr/>
        </p:nvSpPr>
        <p:spPr>
          <a:xfrm>
            <a:off x="513347" y="1604211"/>
            <a:ext cx="11112596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 collect information such as attendance, study hours, previous scores, participation and academic performance.</a:t>
            </a:r>
          </a:p>
          <a:p>
            <a:pPr>
              <a:spcAft>
                <a:spcPts val="800"/>
              </a:spcAft>
              <a:defRPr sz="1800" b="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 analyzing these factors for every student can be time-consuming.</a:t>
            </a:r>
          </a:p>
          <a:p>
            <a:pPr>
              <a:spcAft>
                <a:spcPts val="800"/>
              </a:spcAft>
              <a:defRPr sz="1800" b="0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800" b="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 There is a need for a simple Data Science system that analyzes student-related data and predicts academic performance while providing understandable insights.</a:t>
            </a:r>
          </a:p>
        </p:txBody>
      </p:sp>
    </p:spTree>
    <p:extLst>
      <p:ext uri="{BB962C8B-B14F-4D97-AF65-F5344CB8AC3E}">
        <p14:creationId xmlns:p14="http://schemas.microsoft.com/office/powerpoint/2010/main" val="193978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10D43-2165-E164-BC27-42F09A0EC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B793A3-1F69-6EDE-94E9-1119EE650C47}"/>
              </a:ext>
            </a:extLst>
          </p:cNvPr>
          <p:cNvSpPr txBox="1"/>
          <p:nvPr/>
        </p:nvSpPr>
        <p:spPr>
          <a:xfrm>
            <a:off x="3991897" y="482232"/>
            <a:ext cx="2278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F99254-291A-62F2-A8A8-DEA3B4224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F4A9DA-56F7-3029-9D8E-2AEFEACB09E7}"/>
              </a:ext>
            </a:extLst>
          </p:cNvPr>
          <p:cNvSpPr txBox="1"/>
          <p:nvPr/>
        </p:nvSpPr>
        <p:spPr>
          <a:xfrm>
            <a:off x="513347" y="1604211"/>
            <a:ext cx="11112596" cy="3888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Collect and analyze student performance data.</a:t>
            </a:r>
          </a:p>
          <a:p>
            <a:pPr>
              <a:spcAft>
                <a:spcPts val="800"/>
              </a:spcAft>
              <a:defRPr sz="1800" b="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Clean missing, duplicate and inconsistent data.</a:t>
            </a:r>
          </a:p>
          <a:p>
            <a:pPr>
              <a:spcAft>
                <a:spcPts val="800"/>
              </a:spcAft>
              <a:defRPr sz="1800" b="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Perform Exploratory Data Analysis.</a:t>
            </a:r>
          </a:p>
          <a:p>
            <a:pPr>
              <a:spcAft>
                <a:spcPts val="800"/>
              </a:spcAft>
              <a:defRPr sz="1800" b="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Identify relationships between student factors and academic performance.</a:t>
            </a:r>
          </a:p>
          <a:p>
            <a:pPr>
              <a:spcAft>
                <a:spcPts val="800"/>
              </a:spcAft>
              <a:defRPr sz="1800" b="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Visualize important patterns using graphs and charts.</a:t>
            </a:r>
          </a:p>
          <a:p>
            <a:pPr>
              <a:spcAft>
                <a:spcPts val="800"/>
              </a:spcAft>
              <a:defRPr sz="1800" b="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Develop a machine-learning model for performance prediction.</a:t>
            </a:r>
          </a:p>
          <a:p>
            <a:pPr>
              <a:spcAft>
                <a:spcPts val="800"/>
              </a:spcAft>
              <a:defRPr sz="1800" b="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Evaluate the model using MAE, RMSE and R².</a:t>
            </a:r>
          </a:p>
          <a:p>
            <a:pPr>
              <a:spcAft>
                <a:spcPts val="800"/>
              </a:spcAft>
              <a:defRPr sz="1800" b="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Provide an easy-to-understand academic analytics dashboard.</a:t>
            </a:r>
          </a:p>
        </p:txBody>
      </p:sp>
    </p:spTree>
    <p:extLst>
      <p:ext uri="{BB962C8B-B14F-4D97-AF65-F5344CB8AC3E}">
        <p14:creationId xmlns:p14="http://schemas.microsoft.com/office/powerpoint/2010/main" val="2343905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6803091"/>
              </p:ext>
            </p:extLst>
          </p:nvPr>
        </p:nvGraphicFramePr>
        <p:xfrm>
          <a:off x="274646" y="689466"/>
          <a:ext cx="11642705" cy="515398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96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7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9428"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defRPr sz="1800" b="0"/>
                      </a:pPr>
                      <a:r>
                        <a:rPr lang="en-IN" sz="1400" dirty="0"/>
                        <a:t>M. </a:t>
                      </a:r>
                      <a:r>
                        <a:rPr lang="en-IN" sz="1400" dirty="0" err="1"/>
                        <a:t>Yağcı</a:t>
                      </a:r>
                      <a:r>
                        <a:rPr lang="en-IN" sz="1400" dirty="0"/>
                        <a:t>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defRPr sz="1800" b="0"/>
                      </a:pPr>
                      <a:r>
                        <a:rPr lang="en-US" sz="1400" dirty="0"/>
                        <a:t>Educational data mining: prediction of students' academic performance using machine learning algorithms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defRPr sz="1800" b="0"/>
                      </a:pPr>
                      <a:r>
                        <a:rPr lang="en-US" sz="1400" dirty="0"/>
                        <a:t>Educational Data Mining with Random Forest, SVM, Logistic Regression, Naïve Bayes, KNN and other ML algorithms.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defRPr sz="1800" b="0"/>
                      </a:pPr>
                      <a:r>
                        <a:rPr lang="en-US" sz="1400" dirty="0"/>
                        <a:t>Compared multiple models for predicting university students' final exam grades.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Results are dependent on the particular university/course dataset; additional contextual features can be explored.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Mirna </a:t>
                      </a:r>
                      <a:r>
                        <a:rPr lang="en-IN" sz="1400" dirty="0" err="1"/>
                        <a:t>Nachouki</a:t>
                      </a:r>
                      <a:r>
                        <a:rPr lang="en-IN" sz="1400" dirty="0"/>
                        <a:t>, </a:t>
                      </a:r>
                      <a:r>
                        <a:rPr lang="en-IN" sz="1400" dirty="0" err="1"/>
                        <a:t>Elfadil</a:t>
                      </a:r>
                      <a:r>
                        <a:rPr lang="en-IN" sz="1400" dirty="0"/>
                        <a:t> A. Mohamed, Riyadh Mehdi, Mahmoud Abou </a:t>
                      </a:r>
                      <a:r>
                        <a:rPr lang="en-IN" sz="1400" dirty="0" err="1"/>
                        <a:t>Naaj</a:t>
                      </a:r>
                      <a:r>
                        <a:rPr lang="en-IN" sz="1400" dirty="0"/>
                        <a:t> (2023)</a:t>
                      </a:r>
                    </a:p>
                    <a:p>
                      <a:pPr marL="0" algn="l" defTabSz="914400" rtl="0" eaLnBrk="1" latinLnBrk="0" hangingPunct="1"/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Student course grade prediction using the random forest algorithm: Analysis of predictors' importance</a:t>
                      </a:r>
                    </a:p>
                    <a:p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dirty="0"/>
                        <a:t>Random Forest with predictor-importance analysis.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dirty="0"/>
                        <a:t>Studied 650 undergraduate computing students and examined important predictors of course performance.</a:t>
                      </a:r>
                    </a:p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Dataset is institution/program specific; additional behavioral and learning-related features can be investigated.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IEEE Conference Paper (2023)</a:t>
                      </a:r>
                    </a:p>
                    <a:p>
                      <a:pPr marL="0" algn="l" defTabSz="914400" rtl="0" eaLnBrk="1" latinLnBrk="0" hangingPunct="1"/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Prediction of student performance using machine learning techniques</a:t>
                      </a:r>
                    </a:p>
                    <a:p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dirty="0"/>
                        <a:t>Data preparation and machine-learning models using academic, demographic and behavioral characteristics.</a:t>
                      </a:r>
                    </a:p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dirty="0"/>
                        <a:t>Demonstrates the use of ML techniques for predicting academic achievement.</a:t>
                      </a:r>
                    </a:p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Performance depends on dataset quality and characteristics; broader validation is required.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19 Sep 2026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Review 1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6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30ADF-872B-95A5-1A8E-823E27DFA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35B0B5-7381-305D-EA05-CC8FD3B130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5142746"/>
              </p:ext>
            </p:extLst>
          </p:nvPr>
        </p:nvGraphicFramePr>
        <p:xfrm>
          <a:off x="274646" y="689466"/>
          <a:ext cx="11642705" cy="429038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96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7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9428"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defRPr sz="1800" b="0"/>
                      </a:pPr>
                      <a:r>
                        <a:rPr lang="en-IN" sz="1400" dirty="0"/>
                        <a:t>2024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defRPr sz="1800" b="0"/>
                      </a:pPr>
                      <a:r>
                        <a:rPr lang="en-US" sz="1400" dirty="0"/>
                        <a:t>A Hybrid Machine Learning Approach for Predicting Student Performance Using Multi-class Educational 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defRPr sz="1800" b="0"/>
                      </a:pPr>
                      <a:r>
                        <a:rPr lang="en-US" sz="1400" dirty="0"/>
                        <a:t>PCA, K-Means clustering and supervised models including Random Forest, Decision Tree and neural-network approaches.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defRPr sz="1800" b="0"/>
                      </a:pPr>
                      <a:r>
                        <a:rPr lang="en-US" sz="1400" dirty="0"/>
                        <a:t>Combines clustering and prediction to identify different learning/performance patterns.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Hybrid methods can be more complex; lightweight models may be preferable for simple academic applications.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defRPr sz="1800" b="0"/>
                      </a:pPr>
                      <a:r>
                        <a:rPr lang="en-IN" sz="1400" dirty="0"/>
                        <a:t>2025 study</a:t>
                      </a:r>
                    </a:p>
                    <a:p>
                      <a:pPr marL="0" algn="l" defTabSz="914400" rtl="0" eaLnBrk="1" latinLnBrk="0" hangingPunct="1"/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defRPr sz="1800" b="0"/>
                      </a:pPr>
                      <a:r>
                        <a:rPr lang="en-US" sz="1400" dirty="0"/>
                        <a:t>Predictive analytics in education – enhancing student achievement through machine learning</a:t>
                      </a:r>
                    </a:p>
                    <a:p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defRPr sz="1800" b="0"/>
                      </a:pPr>
                      <a:r>
                        <a:rPr lang="en-US" sz="1400" dirty="0"/>
                        <a:t>Predictive analytics with multiple machine-learning approaches and academic/contextual features.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defRPr sz="1800" b="0"/>
                      </a:pPr>
                      <a:r>
                        <a:rPr lang="en-US" sz="1400" dirty="0"/>
                        <a:t>Investigates a large student-record dataset for academic-achievement prediction.</a:t>
                      </a:r>
                    </a:p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More diverse educational contexts and feature sets can be explored.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defRPr sz="1800" b="0"/>
                      </a:pPr>
                      <a:r>
                        <a:rPr lang="en-IN" sz="1400" dirty="0"/>
                        <a:t>Najah Al-</a:t>
                      </a:r>
                      <a:r>
                        <a:rPr lang="en-IN" sz="1400" dirty="0" err="1"/>
                        <a:t>Shanableh</a:t>
                      </a:r>
                      <a:r>
                        <a:rPr lang="en-IN" sz="1400" dirty="0"/>
                        <a:t> et al. (2026)</a:t>
                      </a:r>
                    </a:p>
                    <a:p>
                      <a:pPr marL="0" algn="l" defTabSz="914400" rtl="0" eaLnBrk="1" latinLnBrk="0" hangingPunct="1"/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defRPr sz="1800" b="0"/>
                      </a:pPr>
                      <a:r>
                        <a:rPr lang="en-US" sz="1400" dirty="0"/>
                        <a:t>Forecasting Students' Academic Performance in Educational Data Using Machine Learning Techniques</a:t>
                      </a:r>
                    </a:p>
                    <a:p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defRPr sz="1800" b="0"/>
                      </a:pPr>
                      <a:r>
                        <a:rPr lang="en-US" sz="1400" dirty="0"/>
                        <a:t>Preprocessing, EDA, feature engineering, regression, classification and hyperparameter tuning.</a:t>
                      </a:r>
                    </a:p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defRPr sz="1800" b="0"/>
                      </a:pPr>
                      <a:r>
                        <a:rPr lang="en-US" sz="1400" dirty="0"/>
                        <a:t>Evaluates regression and classification approaches for academic-performance forecasting.</a:t>
                      </a:r>
                    </a:p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Cross-institution validation and different datasets are needed.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F1F1F23-8D25-E138-08D0-2A04406B913F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70EDE68-8998-7531-C486-82A21125E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19 Sep 2026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81F2DCD-F4D2-B4E5-FFE4-ED6BDA558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Review 1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495B784-94D7-1A64-8DCE-656A82183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7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7098C4-DF0B-A5B9-A914-95C7DB7CE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207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83E11-BCF5-DF19-5EE6-AE13B45DB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1C0DC3-50A1-5D37-3690-7C4C5AC89646}"/>
              </a:ext>
            </a:extLst>
          </p:cNvPr>
          <p:cNvSpPr txBox="1"/>
          <p:nvPr/>
        </p:nvSpPr>
        <p:spPr>
          <a:xfrm>
            <a:off x="3147657" y="467049"/>
            <a:ext cx="58966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1BC314-0A89-9F3B-E14E-2DF348F92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9EA2C8-E7F7-B0AF-1809-A37579D43E08}"/>
              </a:ext>
            </a:extLst>
          </p:cNvPr>
          <p:cNvSpPr txBox="1"/>
          <p:nvPr/>
        </p:nvSpPr>
        <p:spPr>
          <a:xfrm>
            <a:off x="513347" y="1604211"/>
            <a:ext cx="11112596" cy="3683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studies use different student datasets and feature sets.</a:t>
            </a:r>
          </a:p>
          <a:p>
            <a:pPr>
              <a:spcAft>
                <a:spcPts val="800"/>
              </a:spcAft>
              <a:defRPr sz="1800" b="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approaches focus primarily on prediction performance.</a:t>
            </a:r>
          </a:p>
          <a:p>
            <a:pPr>
              <a:spcAft>
                <a:spcPts val="800"/>
              </a:spcAft>
              <a:defRPr sz="1800" b="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advanced approaches require complex architectures.</a:t>
            </a:r>
          </a:p>
          <a:p>
            <a:pPr>
              <a:spcAft>
                <a:spcPts val="800"/>
              </a:spcAft>
              <a:defRPr sz="1800" b="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quality can depend heavily on dataset characteristics.</a:t>
            </a:r>
          </a:p>
          <a:p>
            <a:pPr>
              <a:spcAft>
                <a:spcPts val="800"/>
              </a:spcAft>
              <a:defRPr sz="1800" b="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and teachers may need visual explanations rather than only a prediction value.</a:t>
            </a:r>
          </a:p>
          <a:p>
            <a:pPr>
              <a:spcAft>
                <a:spcPts val="800"/>
              </a:spcAft>
              <a:defRPr sz="1800" b="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gap: combine EDA, prediction and understandable academic insights in a lightweight system.</a:t>
            </a:r>
          </a:p>
        </p:txBody>
      </p:sp>
    </p:spTree>
    <p:extLst>
      <p:ext uri="{BB962C8B-B14F-4D97-AF65-F5344CB8AC3E}">
        <p14:creationId xmlns:p14="http://schemas.microsoft.com/office/powerpoint/2010/main" val="1948790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D133F-405F-DDFE-0E61-7CA5036C9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BD1BE-C2F7-DC35-7142-45CFB2A97526}"/>
              </a:ext>
            </a:extLst>
          </p:cNvPr>
          <p:cNvSpPr txBox="1"/>
          <p:nvPr/>
        </p:nvSpPr>
        <p:spPr>
          <a:xfrm>
            <a:off x="2939143" y="482232"/>
            <a:ext cx="61003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BA92E7-0F53-EA4A-AC78-B49A60FE3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768FDA-78F0-7C1E-3461-FE2456E17ED9}"/>
              </a:ext>
            </a:extLst>
          </p:cNvPr>
          <p:cNvSpPr txBox="1"/>
          <p:nvPr/>
        </p:nvSpPr>
        <p:spPr>
          <a:xfrm>
            <a:off x="709290" y="1943845"/>
            <a:ext cx="11112596" cy="3298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analytics: data cleaning, EDA, visualization and prediction in one workflow.</a:t>
            </a:r>
          </a:p>
          <a:p>
            <a:pPr>
              <a:spcAft>
                <a:spcPts val="800"/>
              </a:spcAft>
              <a:defRPr sz="1800" b="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Student-level prediction using selected academic and behavioral features.</a:t>
            </a:r>
          </a:p>
          <a:p>
            <a:pPr>
              <a:spcAft>
                <a:spcPts val="800"/>
              </a:spcAft>
              <a:defRPr sz="1800" b="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insights showing relationships between important factors.</a:t>
            </a:r>
          </a:p>
          <a:p>
            <a:pPr>
              <a:spcAft>
                <a:spcPts val="800"/>
              </a:spcAft>
              <a:defRPr sz="1800" b="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explainability through feature-importance visualization.</a:t>
            </a:r>
          </a:p>
          <a:p>
            <a:pPr>
              <a:spcAft>
                <a:spcPts val="800"/>
              </a:spcAft>
              <a:defRPr sz="1800" b="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 for presenting predictions and analytical results.</a:t>
            </a:r>
          </a:p>
          <a:p>
            <a:pPr>
              <a:spcAft>
                <a:spcPts val="800"/>
              </a:spcAft>
              <a:defRPr sz="1800" b="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idea: lightweight and interpretable academic analytics.</a:t>
            </a:r>
          </a:p>
        </p:txBody>
      </p:sp>
    </p:spTree>
    <p:extLst>
      <p:ext uri="{BB962C8B-B14F-4D97-AF65-F5344CB8AC3E}">
        <p14:creationId xmlns:p14="http://schemas.microsoft.com/office/powerpoint/2010/main" val="532814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573468" y="1258944"/>
            <a:ext cx="1104506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Feasibility: simple inputs, understandable charts and practical academic analysis.</a:t>
            </a:r>
          </a:p>
          <a:p>
            <a:pPr>
              <a:spcAft>
                <a:spcPts val="800"/>
              </a:spcAft>
              <a:defRPr sz="1800" b="0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800" b="0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— Dataset Collection: obtain a student-performance dataset.</a:t>
            </a:r>
          </a:p>
          <a:p>
            <a:pPr>
              <a:spcAft>
                <a:spcPts val="800"/>
              </a:spcAft>
              <a:defRPr sz="1800" b="0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— Data Preprocessing: handle missing values, duplicates, outliers and categorical variables.</a:t>
            </a:r>
          </a:p>
          <a:p>
            <a:pPr>
              <a:spcAft>
                <a:spcPts val="800"/>
              </a:spcAft>
              <a:defRPr sz="1800" b="0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— EDA: distributions, scatter plots, box plots, correlation and heatmap.</a:t>
            </a:r>
          </a:p>
          <a:p>
            <a:pPr>
              <a:spcAft>
                <a:spcPts val="800"/>
              </a:spcAft>
              <a:defRPr sz="1800" b="0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— Feature Selection: identify useful input variables.</a:t>
            </a:r>
          </a:p>
          <a:p>
            <a:pPr>
              <a:spcAft>
                <a:spcPts val="800"/>
              </a:spcAft>
              <a:defRPr sz="1800" b="0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 — Model Development: train Random Forest Regressor.</a:t>
            </a:r>
          </a:p>
          <a:p>
            <a:pPr>
              <a:spcAft>
                <a:spcPts val="800"/>
              </a:spcAft>
              <a:defRPr sz="1800" b="0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 — Evaluation: MAE, RMSE and R².</a:t>
            </a:r>
          </a:p>
          <a:p>
            <a:pPr>
              <a:spcAft>
                <a:spcPts val="800"/>
              </a:spcAft>
              <a:defRPr sz="1800" b="0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 — Prediction and Dashboard: present score prediction and academic insights.</a:t>
            </a:r>
          </a:p>
          <a:p>
            <a:pPr>
              <a:spcAft>
                <a:spcPts val="800"/>
              </a:spcAft>
              <a:defRPr sz="1800" b="0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A30CA-F784-A835-760A-B4B8ED075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5FBCAA-4302-B7F9-E622-6FFE04A71FBE}"/>
              </a:ext>
            </a:extLst>
          </p:cNvPr>
          <p:cNvSpPr txBox="1"/>
          <p:nvPr/>
        </p:nvSpPr>
        <p:spPr>
          <a:xfrm>
            <a:off x="3457637" y="2882696"/>
            <a:ext cx="5276726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1800" b="0"/>
            </a:pPr>
            <a:r>
              <a:rPr lang="en-IN" sz="6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FBE45C-B158-4C54-7722-6ECF51B7E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78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915</Words>
  <Application>Microsoft Office PowerPoint</Application>
  <PresentationFormat>Widescreen</PresentationFormat>
  <Paragraphs>141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Harshitha Shaik</cp:lastModifiedBy>
  <cp:revision>35</cp:revision>
  <dcterms:created xsi:type="dcterms:W3CDTF">2026-08-08T06:33:56Z</dcterms:created>
  <dcterms:modified xsi:type="dcterms:W3CDTF">2026-09-19T07:11:09Z</dcterms:modified>
</cp:coreProperties>
</file>